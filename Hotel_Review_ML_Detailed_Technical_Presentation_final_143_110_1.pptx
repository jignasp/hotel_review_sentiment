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8B2C1-A5AA-44C1-96E1-E76DCECA054A}" v="3" dt="2026-10-07T02:47:31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na macharla" userId="b713c0d1883e1854" providerId="LiveId" clId="{C334B01E-F820-455C-AB50-B0F74FCB7CB1}"/>
    <pc:docChg chg="undo custSel modSld">
      <pc:chgData name="prasanna macharla" userId="b713c0d1883e1854" providerId="LiveId" clId="{C334B01E-F820-455C-AB50-B0F74FCB7CB1}" dt="2026-10-07T04:57:48.715" v="217" actId="1036"/>
      <pc:docMkLst>
        <pc:docMk/>
      </pc:docMkLst>
      <pc:sldChg chg="addSp delSp modSp mod">
        <pc:chgData name="prasanna macharla" userId="b713c0d1883e1854" providerId="LiveId" clId="{C334B01E-F820-455C-AB50-B0F74FCB7CB1}" dt="2026-10-07T02:55:59.032" v="176" actId="20577"/>
        <pc:sldMkLst>
          <pc:docMk/>
          <pc:sldMk cId="0" sldId="256"/>
        </pc:sldMkLst>
        <pc:spChg chg="mod">
          <ac:chgData name="prasanna macharla" userId="b713c0d1883e1854" providerId="LiveId" clId="{C334B01E-F820-455C-AB50-B0F74FCB7CB1}" dt="2026-10-07T02:44:34.181" v="3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4:43.851" v="3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4:51.692" v="38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prasanna macharla" userId="b713c0d1883e1854" providerId="LiveId" clId="{C334B01E-F820-455C-AB50-B0F74FCB7CB1}" dt="2026-10-07T02:44:53.318" v="40"/>
          <ac:spMkLst>
            <pc:docMk/>
            <pc:sldMk cId="0" sldId="256"/>
            <ac:spMk id="16" creationId="{F963A4E1-755B-39B0-067F-88AD658767B7}"/>
          </ac:spMkLst>
        </pc:spChg>
        <pc:spChg chg="add mod">
          <ac:chgData name="prasanna macharla" userId="b713c0d1883e1854" providerId="LiveId" clId="{C334B01E-F820-455C-AB50-B0F74FCB7CB1}" dt="2026-10-07T02:55:59.032" v="176" actId="20577"/>
          <ac:spMkLst>
            <pc:docMk/>
            <pc:sldMk cId="0" sldId="256"/>
            <ac:spMk id="17" creationId="{BBFAC573-5014-9BA8-9456-EA66DCAB6C18}"/>
          </ac:spMkLst>
        </pc:spChg>
        <pc:spChg chg="add mod">
          <ac:chgData name="prasanna macharla" userId="b713c0d1883e1854" providerId="LiveId" clId="{C334B01E-F820-455C-AB50-B0F74FCB7CB1}" dt="2026-10-07T02:55:33.561" v="158" actId="20577"/>
          <ac:spMkLst>
            <pc:docMk/>
            <pc:sldMk cId="0" sldId="256"/>
            <ac:spMk id="18" creationId="{C12DAE27-67AB-CC7D-B1A9-BA47F402B584}"/>
          </ac:spMkLst>
        </pc:spChg>
      </pc:sldChg>
      <pc:sldChg chg="delSp modSp mod">
        <pc:chgData name="prasanna macharla" userId="b713c0d1883e1854" providerId="LiveId" clId="{C334B01E-F820-455C-AB50-B0F74FCB7CB1}" dt="2026-10-07T02:56:48.237" v="185" actId="478"/>
        <pc:sldMkLst>
          <pc:docMk/>
          <pc:sldMk cId="0" sldId="257"/>
        </pc:sldMkLst>
        <pc:spChg chg="del">
          <ac:chgData name="prasanna macharla" userId="b713c0d1883e1854" providerId="LiveId" clId="{C334B01E-F820-455C-AB50-B0F74FCB7CB1}" dt="2026-10-07T02:56:32.500" v="180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56:14.198" v="177" actId="1076"/>
          <ac:spMkLst>
            <pc:docMk/>
            <pc:sldMk cId="0" sldId="257"/>
            <ac:spMk id="9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2:56:34.975" v="181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56:23.174" v="178" actId="1076"/>
          <ac:spMkLst>
            <pc:docMk/>
            <pc:sldMk cId="0" sldId="257"/>
            <ac:spMk id="13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2:56:36.967" v="182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56:27.091" v="179" actId="1076"/>
          <ac:spMkLst>
            <pc:docMk/>
            <pc:sldMk cId="0" sldId="257"/>
            <ac:spMk id="17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2:56:48.237" v="185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2:56:44.669" v="184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2:56:39.929" v="183" actId="478"/>
          <ac:spMkLst>
            <pc:docMk/>
            <pc:sldMk cId="0" sldId="257"/>
            <ac:spMk id="28" creationId="{00000000-0000-0000-0000-000000000000}"/>
          </ac:spMkLst>
        </pc:spChg>
      </pc:sldChg>
      <pc:sldChg chg="addSp delSp mod">
        <pc:chgData name="prasanna macharla" userId="b713c0d1883e1854" providerId="LiveId" clId="{C334B01E-F820-455C-AB50-B0F74FCB7CB1}" dt="2026-10-07T04:53:26.114" v="195" actId="478"/>
        <pc:sldMkLst>
          <pc:docMk/>
          <pc:sldMk cId="0" sldId="258"/>
        </pc:sldMkLst>
        <pc:spChg chg="del">
          <ac:chgData name="prasanna macharla" userId="b713c0d1883e1854" providerId="LiveId" clId="{C334B01E-F820-455C-AB50-B0F74FCB7CB1}" dt="2026-10-07T02:57:05.047" v="186" actId="478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prasanna macharla" userId="b713c0d1883e1854" providerId="LiveId" clId="{C334B01E-F820-455C-AB50-B0F74FCB7CB1}" dt="2026-10-07T02:57:09.418" v="188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2:57:19.435" v="18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22.419" v="194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26.114" v="195" actId="478"/>
          <ac:spMkLst>
            <pc:docMk/>
            <pc:sldMk cId="0" sldId="258"/>
            <ac:spMk id="19" creationId="{00000000-0000-0000-0000-000000000000}"/>
          </ac:spMkLst>
        </pc:spChg>
      </pc:sldChg>
      <pc:sldChg chg="addSp delSp modSp mod">
        <pc:chgData name="prasanna macharla" userId="b713c0d1883e1854" providerId="LiveId" clId="{C334B01E-F820-455C-AB50-B0F74FCB7CB1}" dt="2026-10-07T04:53:47.072" v="202" actId="478"/>
        <pc:sldMkLst>
          <pc:docMk/>
          <pc:sldMk cId="0" sldId="260"/>
        </pc:sldMkLst>
        <pc:spChg chg="mod">
          <ac:chgData name="prasanna macharla" userId="b713c0d1883e1854" providerId="LiveId" clId="{C334B01E-F820-455C-AB50-B0F74FCB7CB1}" dt="2026-10-07T02:42:58.245" v="17" actId="14100"/>
          <ac:spMkLst>
            <pc:docMk/>
            <pc:sldMk cId="0" sldId="260"/>
            <ac:spMk id="6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30.115" v="196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0:59.886" v="3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1:15.772" v="5" actId="1076"/>
          <ac:spMkLst>
            <pc:docMk/>
            <pc:sldMk cId="0" sldId="260"/>
            <ac:spMk id="10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32.291" v="197" actId="4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1:38.421" v="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1:49.632" v="9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2:02.655" v="10" actId="14100"/>
          <ac:spMkLst>
            <pc:docMk/>
            <pc:sldMk cId="0" sldId="260"/>
            <ac:spMk id="14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34.161" v="198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2:13.802" v="1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2:21.507" v="12" actId="1076"/>
          <ac:spMkLst>
            <pc:docMk/>
            <pc:sldMk cId="0" sldId="260"/>
            <ac:spMk id="17" creationId="{00000000-0000-0000-0000-000000000000}"/>
          </ac:spMkLst>
        </pc:spChg>
        <pc:spChg chg="add del mod">
          <ac:chgData name="prasanna macharla" userId="b713c0d1883e1854" providerId="LiveId" clId="{C334B01E-F820-455C-AB50-B0F74FCB7CB1}" dt="2026-10-07T04:53:38.028" v="200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42.179" v="201" actId="478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2:44.025" v="15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2:51.302" v="16" actId="1076"/>
          <ac:spMkLst>
            <pc:docMk/>
            <pc:sldMk cId="0" sldId="260"/>
            <ac:spMk id="2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47.072" v="202" actId="478"/>
          <ac:spMkLst>
            <pc:docMk/>
            <pc:sldMk cId="0" sldId="260"/>
            <ac:spMk id="23" creationId="{00000000-0000-0000-0000-000000000000}"/>
          </ac:spMkLst>
        </pc:spChg>
      </pc:sldChg>
      <pc:sldChg chg="delSp mod">
        <pc:chgData name="prasanna macharla" userId="b713c0d1883e1854" providerId="LiveId" clId="{C334B01E-F820-455C-AB50-B0F74FCB7CB1}" dt="2026-10-07T04:57:22.880" v="214" actId="478"/>
        <pc:sldMkLst>
          <pc:docMk/>
          <pc:sldMk cId="0" sldId="261"/>
        </pc:sldMkLst>
        <pc:spChg chg="del">
          <ac:chgData name="prasanna macharla" userId="b713c0d1883e1854" providerId="LiveId" clId="{C334B01E-F820-455C-AB50-B0F74FCB7CB1}" dt="2026-10-07T04:57:15.875" v="212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7:18" v="213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7:22.880" v="214" actId="478"/>
          <ac:spMkLst>
            <pc:docMk/>
            <pc:sldMk cId="0" sldId="261"/>
            <ac:spMk id="15" creationId="{00000000-0000-0000-0000-000000000000}"/>
          </ac:spMkLst>
        </pc:spChg>
      </pc:sldChg>
      <pc:sldChg chg="delSp mod">
        <pc:chgData name="prasanna macharla" userId="b713c0d1883e1854" providerId="LiveId" clId="{C334B01E-F820-455C-AB50-B0F74FCB7CB1}" dt="2026-10-07T04:53:15.452" v="193" actId="478"/>
        <pc:sldMkLst>
          <pc:docMk/>
          <pc:sldMk cId="0" sldId="262"/>
        </pc:sldMkLst>
        <pc:spChg chg="del">
          <ac:chgData name="prasanna macharla" userId="b713c0d1883e1854" providerId="LiveId" clId="{C334B01E-F820-455C-AB50-B0F74FCB7CB1}" dt="2026-10-07T04:53:06.209" v="190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09.478" v="191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13.107" v="192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15.452" v="193" actId="478"/>
          <ac:spMkLst>
            <pc:docMk/>
            <pc:sldMk cId="0" sldId="262"/>
            <ac:spMk id="19" creationId="{00000000-0000-0000-0000-000000000000}"/>
          </ac:spMkLst>
        </pc:spChg>
      </pc:sldChg>
      <pc:sldChg chg="delSp mod">
        <pc:chgData name="prasanna macharla" userId="b713c0d1883e1854" providerId="LiveId" clId="{C334B01E-F820-455C-AB50-B0F74FCB7CB1}" dt="2026-10-07T04:54:03.125" v="206" actId="478"/>
        <pc:sldMkLst>
          <pc:docMk/>
          <pc:sldMk cId="0" sldId="263"/>
        </pc:sldMkLst>
        <pc:spChg chg="del">
          <ac:chgData name="prasanna macharla" userId="b713c0d1883e1854" providerId="LiveId" clId="{C334B01E-F820-455C-AB50-B0F74FCB7CB1}" dt="2026-10-07T04:53:52.721" v="203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55.031" v="204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3:58.072" v="205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4:03.125" v="206" actId="478"/>
          <ac:spMkLst>
            <pc:docMk/>
            <pc:sldMk cId="0" sldId="263"/>
            <ac:spMk id="19" creationId="{00000000-0000-0000-0000-000000000000}"/>
          </ac:spMkLst>
        </pc:spChg>
      </pc:sldChg>
      <pc:sldChg chg="delSp modSp mod">
        <pc:chgData name="prasanna macharla" userId="b713c0d1883e1854" providerId="LiveId" clId="{C334B01E-F820-455C-AB50-B0F74FCB7CB1}" dt="2026-10-07T04:57:48.715" v="217" actId="1036"/>
        <pc:sldMkLst>
          <pc:docMk/>
          <pc:sldMk cId="0" sldId="267"/>
        </pc:sldMkLst>
        <pc:spChg chg="mod">
          <ac:chgData name="prasanna macharla" userId="b713c0d1883e1854" providerId="LiveId" clId="{C334B01E-F820-455C-AB50-B0F74FCB7CB1}" dt="2026-10-07T04:57:48.715" v="217" actId="1036"/>
          <ac:spMkLst>
            <pc:docMk/>
            <pc:sldMk cId="0" sldId="267"/>
            <ac:spMk id="20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7:46.205" v="216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7:42.758" v="215" actId="478"/>
          <ac:spMkLst>
            <pc:docMk/>
            <pc:sldMk cId="0" sldId="267"/>
            <ac:spMk id="25" creationId="{00000000-0000-0000-0000-000000000000}"/>
          </ac:spMkLst>
        </pc:spChg>
      </pc:sldChg>
      <pc:sldChg chg="delSp modSp mod">
        <pc:chgData name="prasanna macharla" userId="b713c0d1883e1854" providerId="LiveId" clId="{C334B01E-F820-455C-AB50-B0F74FCB7CB1}" dt="2026-10-07T04:54:24.459" v="211" actId="478"/>
        <pc:sldMkLst>
          <pc:docMk/>
          <pc:sldMk cId="0" sldId="269"/>
        </pc:sldMkLst>
        <pc:spChg chg="del">
          <ac:chgData name="prasanna macharla" userId="b713c0d1883e1854" providerId="LiveId" clId="{C334B01E-F820-455C-AB50-B0F74FCB7CB1}" dt="2026-10-07T04:54:11.500" v="207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4:16.076" v="208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4:21.217" v="210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4:18.360" v="209" actId="478"/>
          <ac:spMkLst>
            <pc:docMk/>
            <pc:sldMk cId="0" sldId="269"/>
            <ac:spMk id="19" creationId="{00000000-0000-0000-0000-000000000000}"/>
          </ac:spMkLst>
        </pc:spChg>
        <pc:spChg chg="del">
          <ac:chgData name="prasanna macharla" userId="b713c0d1883e1854" providerId="LiveId" clId="{C334B01E-F820-455C-AB50-B0F74FCB7CB1}" dt="2026-10-07T04:54:24.459" v="211" actId="478"/>
          <ac:spMkLst>
            <pc:docMk/>
            <pc:sldMk cId="0" sldId="269"/>
            <ac:spMk id="23" creationId="{00000000-0000-0000-0000-000000000000}"/>
          </ac:spMkLst>
        </pc:spChg>
        <pc:spChg chg="mod">
          <ac:chgData name="prasanna macharla" userId="b713c0d1883e1854" providerId="LiveId" clId="{C334B01E-F820-455C-AB50-B0F74FCB7CB1}" dt="2026-10-07T02:43:29.251" v="29" actId="20577"/>
          <ac:spMkLst>
            <pc:docMk/>
            <pc:sldMk cId="0" sldId="269"/>
            <ac:spMk id="2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960120"/>
            <a:ext cx="10835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508760"/>
            <a:ext cx="9966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263F"/>
                </a:solidFill>
              </a:defRPr>
            </a:pPr>
            <a:r>
              <a:rPr dirty="0"/>
              <a:t>Hotel Review Sentiment&amp; Aspect Rating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02025"/>
            <a:ext cx="9784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F96"/>
                </a:solidFill>
              </a:defRPr>
            </a:pPr>
            <a:r>
              <a:rPr dirty="0"/>
              <a:t>Machine Learning Mini-Project | NLP + Traditional Machine Learning</a:t>
            </a:r>
            <a:endParaRPr lang="en-IN" dirty="0"/>
          </a:p>
          <a:p>
            <a:pPr algn="l">
              <a:defRPr sz="1800" b="1">
                <a:solidFill>
                  <a:srgbClr val="2B5F96"/>
                </a:solidFill>
              </a:defRPr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908549" y="26060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3606C"/>
                </a:solidFill>
              </a:defRPr>
            </a:pPr>
            <a:r>
              <a:rPr dirty="0"/>
              <a:t>Predicting overall hotel ratings and aspect-specific ratings from review text using n-gram features, TF-IDF, class balancing and supervised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4846320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49103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5F96"/>
                </a:solidFill>
              </a:defRPr>
            </a:pPr>
            <a:r>
              <a:t>NLP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4846320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3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49103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7E7E"/>
                </a:solidFill>
              </a:defRPr>
            </a:pPr>
            <a:r>
              <a:t>TEXT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4846320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31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71031" y="49103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17D5B"/>
                </a:solidFill>
              </a:defRPr>
            </a:pPr>
            <a:r>
              <a:t>FEATURE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48471" y="4846320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3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49103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3742B"/>
                </a:solidFill>
              </a:defRPr>
            </a:pPr>
            <a:r>
              <a:t>MODEL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Machine Learning Mini-Project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FAC573-5014-9BA8-9456-EA66DCAB6C18}"/>
              </a:ext>
            </a:extLst>
          </p:cNvPr>
          <p:cNvSpPr txBox="1"/>
          <p:nvPr/>
        </p:nvSpPr>
        <p:spPr>
          <a:xfrm>
            <a:off x="1223035" y="3775587"/>
            <a:ext cx="676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JIGNAS , PES2UG24AM110</a:t>
            </a:r>
          </a:p>
          <a:p>
            <a:r>
              <a:rPr lang="en-IN" dirty="0"/>
              <a:t>PRASANNA . MACHARLA , PES2UG24AM143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DAE27-67AB-CC7D-B1A9-BA47F402B584}"/>
              </a:ext>
            </a:extLst>
          </p:cNvPr>
          <p:cNvSpPr txBox="1"/>
          <p:nvPr/>
        </p:nvSpPr>
        <p:spPr>
          <a:xfrm>
            <a:off x="1124712" y="3371362"/>
            <a:ext cx="2652153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MEMBERS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Project Objective &amp;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What is the model actually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40997"/>
            <a:ext cx="30632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263F"/>
                </a:solidFill>
              </a:defRPr>
            </a:pPr>
            <a:r>
              <a:rPr dirty="0"/>
              <a:t>Hotel review text</a:t>
            </a:r>
            <a:br>
              <a:rPr dirty="0"/>
            </a:br>
            <a:br>
              <a:rPr dirty="0"/>
            </a:br>
            <a:r>
              <a:rPr dirty="0"/>
              <a:t>Title + review body</a:t>
            </a:r>
            <a:br>
              <a:rPr dirty="0"/>
            </a:br>
            <a:br>
              <a:rPr dirty="0"/>
            </a:br>
            <a:r>
              <a:rPr dirty="0"/>
              <a:t>Example: “Clean room, great location, fair price.”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rPr dirty="0"/>
              <a:t>PRIMARY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380" y="1708403"/>
            <a:ext cx="30632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263F"/>
                </a:solidFill>
              </a:defRPr>
            </a:pPr>
            <a:r>
              <a:rPr dirty="0"/>
              <a:t>Overall rating</a:t>
            </a:r>
            <a:br>
              <a:rPr dirty="0"/>
            </a:br>
            <a:br>
              <a:rPr dirty="0"/>
            </a:br>
            <a:r>
              <a:rPr dirty="0"/>
              <a:t>Five possible classes:</a:t>
            </a:r>
            <a:br>
              <a:rPr dirty="0"/>
            </a:br>
            <a:r>
              <a:rPr dirty="0"/>
              <a:t>1 ★  2 ★  3 ★  4 ★  5 ★</a:t>
            </a:r>
            <a:br>
              <a:rPr dirty="0"/>
            </a:br>
            <a:br>
              <a:rPr dirty="0"/>
            </a:br>
            <a:r>
              <a:rPr dirty="0"/>
              <a:t>Multi-class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4630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SECONDARY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731706"/>
            <a:ext cx="30632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rPr dirty="0"/>
              <a:t>Aspect ratings:</a:t>
            </a:r>
            <a:br>
              <a:rPr dirty="0"/>
            </a:br>
            <a:r>
              <a:rPr dirty="0"/>
              <a:t>• Rooms</a:t>
            </a:r>
            <a:br>
              <a:rPr dirty="0"/>
            </a:br>
            <a:r>
              <a:rPr dirty="0"/>
              <a:t>• Location</a:t>
            </a:r>
            <a:br>
              <a:rPr dirty="0"/>
            </a:br>
            <a:r>
              <a:rPr dirty="0"/>
              <a:t>• Value</a:t>
            </a:r>
            <a:br>
              <a:rPr dirty="0"/>
            </a:br>
            <a:r>
              <a:rPr dirty="0"/>
              <a:t>• Cleanliness</a:t>
            </a:r>
            <a:br>
              <a:rPr dirty="0"/>
            </a:br>
            <a:r>
              <a:rPr dirty="0"/>
              <a:t>• Sleep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2263F"/>
                </a:solidFill>
              </a:defRPr>
            </a:pPr>
            <a:r>
              <a:t>Sentiment / polarity formulation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6052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3E3E"/>
                </a:solidFill>
              </a:defRPr>
            </a:pPr>
            <a:r>
              <a:t>NEGATIVE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4727448"/>
            <a:ext cx="27432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263F"/>
                </a:solidFill>
              </a:defRPr>
            </a:pPr>
            <a:r>
              <a:t>1–2 stars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16052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36592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NEUTRAL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727448"/>
            <a:ext cx="27432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263F"/>
                </a:solidFill>
              </a:defRPr>
            </a:pPr>
            <a:r>
              <a:t>3 stars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16052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48472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POSITIVE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727448"/>
            <a:ext cx="27432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263F"/>
                </a:solidFill>
              </a:defRPr>
            </a:pPr>
            <a:r>
              <a:t>4–5 stars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Dataset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The implementation uses a smaller public substitute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01368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usable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1–5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801368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overall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01368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aspect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23444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1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7E7E"/>
                </a:solidFill>
              </a:defRPr>
            </a:pPr>
            <a:r>
              <a:t>2/3 : 1/3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1" y="1801368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train :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743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Review text is created by concatenating the title and body.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Ratings are coerced to numeric values; only valid 1–5 overall ratings are retained.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Available aspects: cleanliness, value, location, rooms and sleep_quality.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Missing aspect labels are omitted only for that aspect.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The original study used a much larger dataset, so this project is an approximation rather than an exact reproduction.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A fixed random state of 42 is used for reproducibility.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End-to-End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The complete supervised NLP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554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F96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9339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Raw review</a:t>
            </a:r>
          </a:p>
        </p:txBody>
      </p:sp>
      <p:sp>
        <p:nvSpPr>
          <p:cNvPr id="9" name="Chevron 8"/>
          <p:cNvSpPr/>
          <p:nvPr/>
        </p:nvSpPr>
        <p:spPr>
          <a:xfrm>
            <a:off x="2093976" y="18288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04872" y="1508760"/>
            <a:ext cx="1554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7E7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199339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Preprocess</a:t>
            </a:r>
          </a:p>
        </p:txBody>
      </p:sp>
      <p:sp>
        <p:nvSpPr>
          <p:cNvPr id="13" name="Chevron 12"/>
          <p:cNvSpPr/>
          <p:nvPr/>
        </p:nvSpPr>
        <p:spPr>
          <a:xfrm>
            <a:off x="3995928" y="18288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06824" y="1508760"/>
            <a:ext cx="1554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7D5B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199339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Vectorize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18288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08776" y="1508760"/>
            <a:ext cx="1554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0216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3742B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99339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Train</a:t>
            </a:r>
          </a:p>
        </p:txBody>
      </p:sp>
      <p:sp>
        <p:nvSpPr>
          <p:cNvPr id="21" name="Chevron 20"/>
          <p:cNvSpPr/>
          <p:nvPr/>
        </p:nvSpPr>
        <p:spPr>
          <a:xfrm>
            <a:off x="7799831" y="18288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10728" y="1508760"/>
            <a:ext cx="1554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8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F96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9339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Evaluate</a:t>
            </a:r>
          </a:p>
        </p:txBody>
      </p:sp>
      <p:sp>
        <p:nvSpPr>
          <p:cNvPr id="25" name="Chevron 24"/>
          <p:cNvSpPr/>
          <p:nvPr/>
        </p:nvSpPr>
        <p:spPr>
          <a:xfrm>
            <a:off x="9701784" y="18288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12680" y="1508760"/>
            <a:ext cx="1554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04120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3E3E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199339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0632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Preprocessing: combine title + body and validate target labels.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Vectorization converts language into a sparse numerical feature matrix.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The model learns a mapping from feature vectors to rating classes.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The test set remains unseen during fitting and is used only for evaluation.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The same general pipeline is reused for overall and aspect-specific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Text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Raw text cannot be directly consumed by classical ML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65276"/>
            <a:ext cx="274320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WORD UNIGRAMS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566" y="1584198"/>
            <a:ext cx="23774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rPr dirty="0"/>
              <a:t>One word at a time.</a:t>
            </a:r>
            <a:br>
              <a:rPr dirty="0"/>
            </a:br>
            <a:br>
              <a:rPr dirty="0"/>
            </a:br>
            <a:r>
              <a:rPr dirty="0"/>
              <a:t>“clean room station” → clean, room, station</a:t>
            </a:r>
            <a:br>
              <a:rPr dirty="0"/>
            </a:br>
            <a:br>
              <a:rPr dirty="0"/>
            </a:br>
            <a:r>
              <a:rPr dirty="0"/>
              <a:t>Captures individual word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1719" y="1065276"/>
            <a:ext cx="2843784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11689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7E7E"/>
                </a:solidFill>
              </a:defRPr>
            </a:pPr>
            <a:r>
              <a:rPr dirty="0"/>
              <a:t>CHARACTER 5-GRAMS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011" y="1438656"/>
            <a:ext cx="23774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rPr dirty="0"/>
              <a:t>Five-character sequences.</a:t>
            </a:r>
            <a:br>
              <a:rPr dirty="0"/>
            </a:br>
            <a:br>
              <a:rPr dirty="0"/>
            </a:br>
            <a:r>
              <a:rPr dirty="0"/>
              <a:t>Captures fragments, morphology and spelling variations.</a:t>
            </a:r>
            <a:br>
              <a:rPr dirty="0"/>
            </a:br>
            <a:br>
              <a:rPr dirty="0"/>
            </a:br>
            <a:r>
              <a:rPr dirty="0"/>
              <a:t>Useful when word boundaries are imperfect.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065276"/>
            <a:ext cx="274320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16556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rPr dirty="0"/>
              <a:t>WORD 2/3-GRAMS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1438656"/>
            <a:ext cx="23774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rPr dirty="0"/>
              <a:t>Short phrases.</a:t>
            </a:r>
            <a:br>
              <a:rPr dirty="0"/>
            </a:br>
            <a:br>
              <a:rPr dirty="0"/>
            </a:br>
            <a:r>
              <a:rPr dirty="0"/>
              <a:t>“clean room”</a:t>
            </a:r>
            <a:br>
              <a:rPr dirty="0"/>
            </a:br>
            <a:r>
              <a:rPr dirty="0"/>
              <a:t>“very clean room”</a:t>
            </a:r>
            <a:br>
              <a:rPr dirty="0"/>
            </a:br>
            <a:br>
              <a:rPr dirty="0"/>
            </a:br>
            <a:r>
              <a:rPr dirty="0"/>
              <a:t>Captures local context and word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59" y="1065276"/>
            <a:ext cx="2485595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50164" y="1165565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rPr dirty="0"/>
              <a:t>COUNT VS TF-IDF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1234" y="1485605"/>
            <a:ext cx="169164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263F"/>
                </a:solidFill>
              </a:defRPr>
            </a:pPr>
            <a:r>
              <a:rPr dirty="0"/>
              <a:t>Counts measure occurrence.</a:t>
            </a:r>
            <a:br>
              <a:rPr dirty="0"/>
            </a:br>
            <a:br>
              <a:rPr dirty="0"/>
            </a:br>
            <a:r>
              <a:rPr dirty="0"/>
              <a:t>TF-IDF </a:t>
            </a:r>
            <a:r>
              <a:rPr dirty="0" err="1"/>
              <a:t>downweights</a:t>
            </a:r>
            <a:r>
              <a:rPr dirty="0"/>
              <a:t> terms common across many documents and emphasizes more informative terms.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703320"/>
            <a:ext cx="9966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07592" y="3840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TF-IDF INTUITION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270248"/>
            <a:ext cx="96012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2263F"/>
                </a:solidFill>
              </a:defRPr>
            </a:pPr>
            <a:r>
              <a:rPr dirty="0"/>
              <a:t>TF-IDF(</a:t>
            </a:r>
            <a:r>
              <a:rPr dirty="0" err="1"/>
              <a:t>t,d</a:t>
            </a:r>
            <a:r>
              <a:rPr dirty="0"/>
              <a:t>) = TF(</a:t>
            </a:r>
            <a:r>
              <a:rPr dirty="0" err="1"/>
              <a:t>t,d</a:t>
            </a:r>
            <a:r>
              <a:rPr dirty="0"/>
              <a:t>) × IDF(t). A term gets a higher weight when it is frequent in a particular review but less common across the entire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Algorithms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Three learning formulations were compared.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71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MULTINOMIAL NAIVE BAYES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1368"/>
            <a:ext cx="315468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• Probabilistic classifier.</a:t>
            </a:r>
            <a:br/>
            <a:r>
              <a:t>• Learns class-specific feature distributions.</a:t>
            </a:r>
            <a:br/>
            <a:r>
              <a:t>• Uses the conditional-independence assumption.</a:t>
            </a:r>
            <a:br/>
            <a:r>
              <a:t>• Particularly natural for word/count features.</a:t>
            </a:r>
            <a:br/>
            <a:br/>
            <a:r>
              <a:t>&lt;b&gt;Purpose:&lt;/b&gt; establish a fast, traditional NLP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371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LINEAR SVM / LinearSVC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01368"/>
            <a:ext cx="315468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• Learns linear decision boundaries.</a:t>
            </a:r>
            <a:br/>
            <a:r>
              <a:t>• Maximizes the separation margin between classes.</a:t>
            </a:r>
            <a:br/>
            <a:r>
              <a:t>• Works well with high-dimensional sparse vectors.</a:t>
            </a:r>
            <a:br/>
            <a:r>
              <a:t>• Class weights can change the penalty for minority-class errors.</a:t>
            </a:r>
            <a:br/>
            <a:br/>
            <a:r>
              <a:t>&lt;b&gt;Purpose:&lt;/b&gt; strong text-classification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371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LINEAR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01368"/>
            <a:ext cx="315468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• Predicts a continuous numerical score.</a:t>
            </a:r>
            <a:br/>
            <a:r>
              <a:t>• Output is converted/clipped to the 1–5 rating range.</a:t>
            </a:r>
            <a:br/>
            <a:r>
              <a:t>• Represents rating prediction as regression rather than direct class prediction.</a:t>
            </a:r>
            <a:br/>
            <a:br/>
            <a:r>
              <a:t>&lt;b&gt;Purpose:&lt;/b&gt; compare a continuous formulation with classifiers.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Class Imbalance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Ratings are not necessarily distributed evenly.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No balancing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92807"/>
            <a:ext cx="2103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55.4%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4630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Class weighting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892807"/>
            <a:ext cx="2103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57.2%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630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Oversampling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92807"/>
            <a:ext cx="2103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55.7%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1" y="14630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3E3E"/>
                </a:solidFill>
              </a:defRPr>
            </a:pPr>
            <a:r>
              <a:t>Undersampling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1" y="1892807"/>
            <a:ext cx="2103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2263F"/>
                </a:solidFill>
              </a:defRPr>
            </a:pPr>
            <a:r>
              <a:t>47.9%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35" y="3643622"/>
            <a:ext cx="106984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• No balancing: standard training objective.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• Class weighting: increase the influence of minority-class mistakes</a:t>
            </a: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 without deleting data.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• Oversampling: duplicate minority-class examples in the training</a:t>
            </a:r>
            <a:endParaRPr lang="en-IN" dirty="0"/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 data.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• </a:t>
            </a:r>
            <a:r>
              <a:rPr dirty="0" err="1"/>
              <a:t>Undersampling</a:t>
            </a:r>
            <a:r>
              <a:rPr dirty="0"/>
              <a:t>: remove some majority-class examples.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rPr dirty="0"/>
              <a:t>• In this experiment, class weighting produced the best result.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11D5F5-5DAD-48EB-D50C-3E20D6C9C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13" y="3735063"/>
            <a:ext cx="6142252" cy="299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Why exact-star accuracy and polarity accuracy are both reported.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173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47088"/>
            <a:ext cx="301752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263F"/>
                </a:solidFill>
              </a:defRPr>
            </a:pPr>
            <a:r>
              <a:t>Correct predictions / total predictions.</a:t>
            </a:r>
            <a:br/>
            <a:br/>
            <a:r>
              <a:t>For star accuracy, predicting 4 instead of actual 5 is incorrect.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4173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7E7E"/>
                </a:solidFill>
              </a:defRPr>
            </a:pPr>
            <a:r>
              <a:t>BALANCED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847088"/>
            <a:ext cx="301752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263F"/>
                </a:solidFill>
              </a:defRPr>
            </a:pPr>
            <a:r>
              <a:t>Average recall across classes.</a:t>
            </a:r>
            <a:br/>
            <a:br/>
            <a:r>
              <a:t>Useful when class frequencies are unequal.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4173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47088"/>
            <a:ext cx="301752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263F"/>
                </a:solidFill>
              </a:defRPr>
            </a:pPr>
            <a:r>
              <a:t>F1 combines precision and recall.</a:t>
            </a:r>
            <a:br/>
            <a:br/>
            <a:r>
              <a:t>Macro averaging gives each class equal importance.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03320"/>
            <a:ext cx="8503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39112" y="384048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POLARITY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4270248"/>
            <a:ext cx="8138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2263F"/>
                </a:solidFill>
              </a:defRPr>
            </a:pPr>
            <a:r>
              <a:t>Star ratings are collapsed into three groups: 1–2 = negative, 3 = neutral, 4–5 = positive. This task is less granular than exact five-class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Algorithm Comparison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7286" y="81317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Word unigram + TF-IDF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43800" y="1417320"/>
            <a:ext cx="64008" cy="1508760"/>
          </a:xfrm>
          <a:prstGeom prst="rect">
            <a:avLst/>
          </a:prstGeom>
          <a:solidFill>
            <a:srgbClr val="31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4112" y="1554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BEST EXACT-STAR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1984248"/>
            <a:ext cx="37033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2263F"/>
                </a:solidFill>
              </a:defRPr>
            </a:pPr>
            <a:r>
              <a:t>Linear SVM</a:t>
            </a:r>
            <a:br/>
            <a:r>
              <a:t>57.2% star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20040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3200400"/>
            <a:ext cx="64008" cy="1508760"/>
          </a:xfrm>
          <a:prstGeom prst="rect">
            <a:avLst/>
          </a:prstGeom>
          <a:solidFill>
            <a:srgbClr val="D3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33375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POLARITY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767328"/>
            <a:ext cx="37033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Linear Regression reaches 80.8% polarity accuracy, but exact-star prediction is the more granular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834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Interpretation: SVM is the strongest direct 1–5 classifier in this comparison.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77EE1C-F3E5-6772-008A-6060092E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30" y="2124296"/>
            <a:ext cx="6724195" cy="28431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Feature Representation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Overall-rating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417320"/>
            <a:ext cx="64008" cy="1463040"/>
          </a:xfrm>
          <a:prstGeom prst="rect">
            <a:avLst/>
          </a:prstGeom>
          <a:solidFill>
            <a:srgbClr val="2B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2" y="1554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BEST STAR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3108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Unigram TF-IDF and character-5 TF-IDF both reach 57.2%.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5468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54680"/>
            <a:ext cx="64008" cy="1463040"/>
          </a:xfrm>
          <a:prstGeom prst="rect">
            <a:avLst/>
          </a:prstGeom>
          <a:solidFill>
            <a:srgbClr val="23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2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7E7E"/>
                </a:solidFill>
              </a:defRPr>
            </a:pPr>
            <a:r>
              <a:t>BEST POLARITY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3721608"/>
            <a:ext cx="3108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Character-5 TF-IDF reaches 81.1% polarity accuracy.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9377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Key lesson: there is no single feature representation that wins on every metric.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AE1557-8C0C-C0D5-4483-95391A7E4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20" y="1554481"/>
            <a:ext cx="6945852" cy="4252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Aspect-Specific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Does training directly on an aspect improve its prediction?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417320"/>
            <a:ext cx="64008" cy="1417320"/>
          </a:xfrm>
          <a:prstGeom prst="rect">
            <a:avLst/>
          </a:prstGeom>
          <a:solidFill>
            <a:srgbClr val="31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2" y="15544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IMPROVED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Location: 56.3% → 63.8%</a:t>
            </a:r>
            <a:br/>
            <a:r>
              <a:t>Cleanliness: 59.3% → 61.1%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54680"/>
            <a:ext cx="64008" cy="1417320"/>
          </a:xfrm>
          <a:prstGeom prst="rect">
            <a:avLst/>
          </a:prstGeom>
          <a:solidFill>
            <a:srgbClr val="D3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2" y="32918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DID NOT 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372160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Rooms, value and sleep quality performed worse with aspect-specific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92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63F"/>
                </a:solidFill>
              </a:defRPr>
            </a:pPr>
            <a:r>
              <a:t>Conclusion: aspect-specific modelling is target-dependent, not universally better.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679460-A505-7A76-14C7-7E70C83BD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" y="1737359"/>
            <a:ext cx="6753887" cy="36527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Final Model &amp;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How a new review moves through the trained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5448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5F96"/>
                </a:solidFill>
              </a:defRPr>
            </a:pPr>
            <a:r>
              <a:t>NEW REVIEW</a:t>
            </a:r>
          </a:p>
        </p:txBody>
      </p:sp>
      <p:sp>
        <p:nvSpPr>
          <p:cNvPr id="8" name="Chevron 7"/>
          <p:cNvSpPr/>
          <p:nvPr/>
        </p:nvSpPr>
        <p:spPr>
          <a:xfrm>
            <a:off x="2395728" y="16002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88920" y="13258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55448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7E7E"/>
                </a:solidFill>
              </a:defRPr>
            </a:pPr>
            <a:r>
              <a:t>VECTORIZE</a:t>
            </a:r>
          </a:p>
        </p:txBody>
      </p:sp>
      <p:sp>
        <p:nvSpPr>
          <p:cNvPr id="11" name="Chevron 10"/>
          <p:cNvSpPr/>
          <p:nvPr/>
        </p:nvSpPr>
        <p:spPr>
          <a:xfrm>
            <a:off x="4727448" y="16002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20640" y="13258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1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55448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17D5B"/>
                </a:solidFill>
              </a:defRPr>
            </a:pPr>
            <a:r>
              <a:t>CLASS-WEIGHTED</a:t>
            </a:r>
            <a:br/>
            <a:r>
              <a:t>LINEAR SVM</a:t>
            </a:r>
          </a:p>
        </p:txBody>
      </p:sp>
      <p:sp>
        <p:nvSpPr>
          <p:cNvPr id="14" name="Chevron 13"/>
          <p:cNvSpPr/>
          <p:nvPr/>
        </p:nvSpPr>
        <p:spPr>
          <a:xfrm>
            <a:off x="7059168" y="16002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52359" y="13258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5511" y="155448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742B"/>
                </a:solidFill>
              </a:defRPr>
            </a:pPr>
            <a:r>
              <a:t>1–5 RATING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9390888" y="1600200"/>
            <a:ext cx="274320" cy="384048"/>
          </a:xfrm>
          <a:prstGeom prst="chevron">
            <a:avLst/>
          </a:prstGeom>
          <a:solidFill>
            <a:srgbClr val="536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84080" y="13258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57232" y="1554480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3E3E"/>
                </a:solidFill>
              </a:defRPr>
            </a:pPr>
            <a:r>
              <a:t>POLARITY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90192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DEMO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447288"/>
            <a:ext cx="484632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263F"/>
                </a:solidFill>
              </a:defRPr>
            </a:pPr>
            <a:r>
              <a:t>Title: “Convenient stay”</a:t>
            </a:r>
            <a:br/>
            <a:br/>
            <a:r>
              <a:t>Review describes a great location near a station, a quiet clean room and fair value.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80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MODEL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447288"/>
            <a:ext cx="484632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263F"/>
                </a:solidFill>
              </a:defRPr>
            </a:pPr>
            <a:r>
              <a:t>Overall: 4 → Positive</a:t>
            </a:r>
            <a:br/>
            <a:r>
              <a:t>Rooms: 5 → Positive</a:t>
            </a:r>
            <a:br/>
            <a:r>
              <a:t>Location: 5 → Positive</a:t>
            </a:r>
            <a:br/>
            <a:r>
              <a:t>Value: 3 → Neutral</a:t>
            </a:r>
            <a:br/>
            <a:r>
              <a:t>Cleanliness: 5 → Positive</a:t>
            </a:r>
            <a:br/>
            <a:r>
              <a:t>Sleep quality: 4 → Positive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Important points for technical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Dataset size: 1,000 reviews is much smaller than the original study's 235,793 reviews.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Dataset mismatch: the substitute dataset does not contain all aspect categories used in the original study.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Random review-level splitting means the same hotel can potentially appear in both train and test sets.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Small-sample feature rankings and model performance may change on a larger or differently distributed dataset.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Aspect models may predict a rating even when a review contains limited explicit information about that aspect.</a:t>
            </a:r>
          </a:p>
          <a:p>
            <a:pPr>
              <a:spcAft>
                <a:spcPts val="800"/>
              </a:spcAft>
              <a:defRPr sz="1600">
                <a:solidFill>
                  <a:srgbClr val="12263F"/>
                </a:solidFill>
              </a:defRPr>
            </a:pPr>
            <a:r>
              <a:t>• Future work: larger data, hotel-level splitting, hyperparameter tuning, richer preprocessing and transformer/BERT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63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3606C"/>
                </a:solidFill>
              </a:defRPr>
            </a:pPr>
            <a:r>
              <a:t>The complete story in five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3606C"/>
                </a:solidFill>
              </a:defRPr>
            </a:pPr>
            <a:r>
              <a:t>Hotel Review Sentiment &amp; Aspect Rating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3606C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371600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F96"/>
                </a:solidFill>
              </a:defRPr>
            </a:pPr>
            <a:r>
              <a:t>1. REPRESENT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7548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263F"/>
                </a:solidFill>
              </a:defRPr>
            </a:pPr>
            <a:r>
              <a:t>Reviews were converted into numerical text features using n-grams and TF-IDF.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371600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7E7E"/>
                </a:solidFill>
              </a:defRPr>
            </a:pPr>
            <a:r>
              <a:t>2.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01368"/>
            <a:ext cx="47548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263F"/>
                </a:solidFill>
              </a:defRPr>
            </a:pPr>
            <a:r>
              <a:t>Naive Bayes, Linear SVM and Linear Regression were evaluated.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5176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788920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17D5B"/>
                </a:solidFill>
              </a:defRPr>
            </a:pPr>
            <a:r>
              <a:t>3.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218688"/>
            <a:ext cx="47548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263F"/>
                </a:solidFill>
              </a:defRPr>
            </a:pPr>
            <a:r>
              <a:t>Class weighting performed best among the imbalance strategies.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5176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2788920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742B"/>
                </a:solidFill>
              </a:defRPr>
            </a:pPr>
            <a:r>
              <a:t>4. 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18688"/>
            <a:ext cx="47548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263F"/>
                </a:solidFill>
              </a:defRPr>
            </a:pPr>
            <a:r>
              <a:t>Feature choice and aspect-specific training materially affected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66344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93592" y="4800600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3E3E"/>
                </a:solidFill>
              </a:defRPr>
            </a:pPr>
            <a:r>
              <a:t>5.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5230368"/>
            <a:ext cx="47548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263F"/>
                </a:solidFill>
              </a:defRPr>
            </a:pPr>
            <a:r>
              <a:t>The final pipeline can predict overall and aspect-level ratings for a new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80760"/>
            <a:ext cx="102412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B5F96"/>
                </a:solidFill>
              </a:defRPr>
            </a:pPr>
            <a:r>
              <a:rPr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1395</Words>
  <Application>Microsoft Office PowerPoint</Application>
  <PresentationFormat>Widescreen</PresentationFormat>
  <Paragraphs>188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prasanna macharla</dc:creator>
  <cp:keywords/>
  <dc:description>generated using python-pptx</dc:description>
  <cp:lastModifiedBy>prasanna macharla</cp:lastModifiedBy>
  <cp:revision>2</cp:revision>
  <dcterms:created xsi:type="dcterms:W3CDTF">2013-01-27T09:14:16Z</dcterms:created>
  <dcterms:modified xsi:type="dcterms:W3CDTF">2026-10-08T06:23:31Z</dcterms:modified>
  <cp:category/>
</cp:coreProperties>
</file>